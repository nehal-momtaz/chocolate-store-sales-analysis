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2" r:id="rId4"/>
    <p:sldId id="263" r:id="rId5"/>
    <p:sldId id="265" r:id="rId6"/>
    <p:sldId id="266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7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074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0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929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3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3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796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9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6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4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49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AFE2E45-A321-4753-97AF-0739C4DA795B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6BF27CE-6048-421A-A655-AE413DE251A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65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7000">
              <a:schemeClr val="accent1">
                <a:lumMod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37265-704C-F5CB-7BEF-2E63B4437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81600"/>
            <a:ext cx="10113264" cy="716280"/>
          </a:xfrm>
        </p:spPr>
        <p:txBody>
          <a:bodyPr/>
          <a:lstStyle/>
          <a:p>
            <a:r>
              <a:rPr lang="en-GB" sz="2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name: CHOCOLATE Store </a:t>
            </a:r>
            <a:br>
              <a:rPr lang="en-GB" sz="2000" b="1" i="1" dirty="0">
                <a:solidFill>
                  <a:schemeClr val="accent3">
                    <a:lumMod val="50000"/>
                  </a:schemeClr>
                </a:solidFill>
              </a:rPr>
            </a:br>
            <a:endParaRPr lang="en-US" sz="2000" b="1" i="1" dirty="0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3C382FF-1853-DAEF-4A5A-C9120E78F8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27" b="14727"/>
          <a:stretch>
            <a:fillRect/>
          </a:stretch>
        </p:blipFill>
        <p:spPr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E5F9-7CA0-279D-45E3-9F0351948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Presented by: Nehal Momtaz</a:t>
            </a:r>
            <a:br>
              <a:rPr lang="en-US" sz="2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2000" b="1" i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Date: April 2026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73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7C581-8AC9-AE26-5BCD-63ED5DBEB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5672" y="2246891"/>
            <a:ext cx="9073208" cy="2213350"/>
          </a:xfrm>
          <a:solidFill>
            <a:schemeClr val="accent1">
              <a:lumMod val="75000"/>
            </a:schemeClr>
          </a:solidFill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  <a:cs typeface="Cascadia Code ExtraLight" panose="020B0609020000020004" pitchFamily="49" charset="0"/>
              </a:rPr>
              <a:t>Comprehensive analysis of CHOCOLATE Store sales and operations was conducted using Power BI.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  <a:cs typeface="Cascadia Code ExtraLight" panose="020B0609020000020004" pitchFamily="49" charset="0"/>
              </a:rPr>
              <a:t>Dashboard focuses on revenue, profit, customer behavior, and store performance.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  <a:cs typeface="Cascadia Code ExtraLight" panose="020B0609020000020004" pitchFamily="49" charset="0"/>
              </a:rPr>
              <a:t>Key goal: Increase profitability &amp; sales growth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AC8D8E6-DB91-56AD-1A1B-DEDB5DCDE6DB}"/>
              </a:ext>
            </a:extLst>
          </p:cNvPr>
          <p:cNvGrpSpPr/>
          <p:nvPr/>
        </p:nvGrpSpPr>
        <p:grpSpPr>
          <a:xfrm>
            <a:off x="1015673" y="942836"/>
            <a:ext cx="4018443" cy="737421"/>
            <a:chOff x="817745" y="702400"/>
            <a:chExt cx="3264310" cy="8652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7385791-B568-EBA5-7D53-B51009AAE802}"/>
                </a:ext>
              </a:extLst>
            </p:cNvPr>
            <p:cNvSpPr/>
            <p:nvPr/>
          </p:nvSpPr>
          <p:spPr>
            <a:xfrm>
              <a:off x="817745" y="702400"/>
              <a:ext cx="3264310" cy="8652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92EA4C4-512E-0CBB-0A10-9347DCBA92FE}"/>
                </a:ext>
              </a:extLst>
            </p:cNvPr>
            <p:cNvSpPr txBox="1"/>
            <p:nvPr/>
          </p:nvSpPr>
          <p:spPr>
            <a:xfrm>
              <a:off x="1044960" y="828064"/>
              <a:ext cx="2809879" cy="613910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2800" b="1" i="1" u="sng" dirty="0">
                  <a:solidFill>
                    <a:schemeClr val="accent3">
                      <a:lumMod val="75000"/>
                    </a:schemeClr>
                  </a:solidFill>
                </a:rPr>
                <a:t>Executive Summary</a:t>
              </a:r>
              <a:endParaRPr lang="en-US" sz="26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0736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DBD062F-EACC-B067-30F3-37740C508438}"/>
              </a:ext>
            </a:extLst>
          </p:cNvPr>
          <p:cNvGrpSpPr/>
          <p:nvPr/>
        </p:nvGrpSpPr>
        <p:grpSpPr>
          <a:xfrm>
            <a:off x="241872" y="88489"/>
            <a:ext cx="4716208" cy="1406013"/>
            <a:chOff x="241873" y="88489"/>
            <a:chExt cx="3264310" cy="165479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BDAD6D34-C2F6-F80A-368C-8377FC74C837}"/>
                </a:ext>
              </a:extLst>
            </p:cNvPr>
            <p:cNvSpPr/>
            <p:nvPr/>
          </p:nvSpPr>
          <p:spPr>
            <a:xfrm>
              <a:off x="241873" y="88489"/>
              <a:ext cx="3264310" cy="165479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47368" y="269556"/>
              <a:ext cx="3058815" cy="1050483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sz="2600" b="1" dirty="0">
                  <a:solidFill>
                    <a:schemeClr val="accent3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Key KPIs Overview</a:t>
              </a:r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</a:p>
            <a:p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For years 2023 &amp; 2024</a:t>
              </a:r>
              <a:endParaRPr sz="2600" b="1" dirty="0">
                <a:solidFill>
                  <a:schemeClr val="accent3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83131" y="1799302"/>
            <a:ext cx="519634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Total Revenue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Total Profit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Average Chocolates per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Profit Margin 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Profit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Sales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Top 2 countries in profit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Top 2 months in profit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sz="2000" b="1" dirty="0">
              <a:solidFill>
                <a:schemeClr val="accent3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498" y="1573161"/>
            <a:ext cx="51275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</a:rPr>
              <a:t>Top brands drive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</a:rPr>
              <a:t>Demand varies by category.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</a:rPr>
              <a:t>Prioritize best-selling products.</a:t>
            </a:r>
            <a:endParaRPr lang="en-US" sz="2000" b="1" dirty="0">
              <a:solidFill>
                <a:schemeClr val="accent3">
                  <a:lumMod val="50000"/>
                </a:schemeClr>
              </a:solidFill>
              <a:latin typeface="Agency FB" panose="020B05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Agency FB" panose="020B0503020202020204" pitchFamily="34" charset="0"/>
              </a:rPr>
              <a:t>Relation between sales &amp; profit</a:t>
            </a:r>
            <a:endParaRPr sz="2000" b="1" dirty="0">
              <a:solidFill>
                <a:schemeClr val="accent3">
                  <a:lumMod val="50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34ED99A-0B90-E69D-DB73-C70A90D4C85F}"/>
              </a:ext>
            </a:extLst>
          </p:cNvPr>
          <p:cNvGrpSpPr/>
          <p:nvPr/>
        </p:nvGrpSpPr>
        <p:grpSpPr>
          <a:xfrm>
            <a:off x="427702" y="206477"/>
            <a:ext cx="7141498" cy="809523"/>
            <a:chOff x="241873" y="88490"/>
            <a:chExt cx="3264310" cy="8652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07C1487-C8CE-8091-A4FB-EC10332DC39A}"/>
                </a:ext>
              </a:extLst>
            </p:cNvPr>
            <p:cNvSpPr/>
            <p:nvPr/>
          </p:nvSpPr>
          <p:spPr>
            <a:xfrm>
              <a:off x="241873" y="88490"/>
              <a:ext cx="3264310" cy="8652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6CFABED-9825-27EE-BE48-1A0C3DB4B230}"/>
                </a:ext>
              </a:extLst>
            </p:cNvPr>
            <p:cNvSpPr txBox="1"/>
            <p:nvPr/>
          </p:nvSpPr>
          <p:spPr>
            <a:xfrm>
              <a:off x="490809" y="88490"/>
              <a:ext cx="2809879" cy="7843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</a:rPr>
                <a:t>Sales &amp; profit Performance Analysis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5018" y="1425677"/>
            <a:ext cx="559226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</a:rPr>
              <a:t>Orders by gender and loyalty.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000" b="1" dirty="0">
                <a:solidFill>
                  <a:schemeClr val="accent3">
                    <a:lumMod val="75000"/>
                  </a:schemeClr>
                </a:solidFill>
              </a:rPr>
              <a:t>Repeat customers matter.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</a:rPr>
              <a:t>Will customer behavior changed in specific periods in the year</a:t>
            </a:r>
            <a:endParaRPr sz="20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AD4124B-F257-A1EA-5545-97429D704457}"/>
              </a:ext>
            </a:extLst>
          </p:cNvPr>
          <p:cNvGrpSpPr/>
          <p:nvPr/>
        </p:nvGrpSpPr>
        <p:grpSpPr>
          <a:xfrm>
            <a:off x="346586" y="127818"/>
            <a:ext cx="5415117" cy="984582"/>
            <a:chOff x="241873" y="88490"/>
            <a:chExt cx="3264310" cy="8652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A41762-B998-A0FE-72D9-999F5BA71391}"/>
                </a:ext>
              </a:extLst>
            </p:cNvPr>
            <p:cNvSpPr/>
            <p:nvPr/>
          </p:nvSpPr>
          <p:spPr>
            <a:xfrm>
              <a:off x="241873" y="88490"/>
              <a:ext cx="3264310" cy="8652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A103A07-B3FB-1E8C-FC27-8A7501A11BDF}"/>
                </a:ext>
              </a:extLst>
            </p:cNvPr>
            <p:cNvSpPr txBox="1"/>
            <p:nvPr/>
          </p:nvSpPr>
          <p:spPr>
            <a:xfrm>
              <a:off x="490808" y="88490"/>
              <a:ext cx="2879053" cy="7843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</a:rPr>
                <a:t>Customer Behavior Analysis</a:t>
              </a:r>
            </a:p>
            <a:p>
              <a:endParaRPr lang="en-US" sz="26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3510" y="1612491"/>
            <a:ext cx="55444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No. of stores per country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No. of stores per year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Relation between stores no. , sales &amp; profit accordingly </a:t>
            </a:r>
            <a:endParaRPr sz="2000" b="1" dirty="0">
              <a:solidFill>
                <a:schemeClr val="accent3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76DEEFC-C79E-B74C-F0D4-016BAF88A044}"/>
              </a:ext>
            </a:extLst>
          </p:cNvPr>
          <p:cNvGrpSpPr/>
          <p:nvPr/>
        </p:nvGrpSpPr>
        <p:grpSpPr>
          <a:xfrm>
            <a:off x="517422" y="355546"/>
            <a:ext cx="5415117" cy="984582"/>
            <a:chOff x="686400" y="2455979"/>
            <a:chExt cx="3264310" cy="86523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6AD693-A2B7-A54E-28C7-422BB8504837}"/>
                </a:ext>
              </a:extLst>
            </p:cNvPr>
            <p:cNvSpPr/>
            <p:nvPr/>
          </p:nvSpPr>
          <p:spPr>
            <a:xfrm>
              <a:off x="686400" y="2455979"/>
              <a:ext cx="3264310" cy="8652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DCDB267-5185-64A5-DF2A-E194EEAB77AC}"/>
                </a:ext>
              </a:extLst>
            </p:cNvPr>
            <p:cNvSpPr txBox="1"/>
            <p:nvPr/>
          </p:nvSpPr>
          <p:spPr>
            <a:xfrm>
              <a:off x="879028" y="2496417"/>
              <a:ext cx="2879053" cy="7843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</a:rPr>
                <a:t>Store Performance Analysis</a:t>
              </a:r>
            </a:p>
            <a:p>
              <a:endParaRPr lang="en-US" sz="26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84691" y="1605767"/>
            <a:ext cx="877529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We have noticed some points: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We have slight increase in profit per year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There are direct relation between profit &amp; orders no, where highest profit is located in type of stores that have highest no. of orders in (Airport stores)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We have a good gross profit margin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We have high demand on specific chocolate brand &amp; category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No. of loyal customers are almost equals non-loyal customers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Chocolate sales is not depending on customer gender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There are direct relation between stores no. &amp; orders no. , where highest demand is located in type of stores that have highest no. of stores in (Airport stores)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We still need more data about expenses (staff salaries, branch rents,….) in order to calculate net profit margins, to have more clear image</a:t>
            </a:r>
          </a:p>
          <a:p>
            <a:pPr marL="2632075"/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Agency FB" panose="020B0503020202020204" pitchFamily="34" charset="0"/>
              </a:rPr>
              <a:t> </a:t>
            </a:r>
            <a:endParaRPr sz="2000" b="1" dirty="0">
              <a:solidFill>
                <a:schemeClr val="accent3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D4FF88-5C37-1BD6-A889-0A09AC367285}"/>
              </a:ext>
            </a:extLst>
          </p:cNvPr>
          <p:cNvGrpSpPr/>
          <p:nvPr/>
        </p:nvGrpSpPr>
        <p:grpSpPr>
          <a:xfrm>
            <a:off x="427703" y="276887"/>
            <a:ext cx="1756697" cy="984582"/>
            <a:chOff x="686400" y="2455979"/>
            <a:chExt cx="3264310" cy="865239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4F2B62B-21F3-46C9-E0E2-EF1FF33A0D3D}"/>
                </a:ext>
              </a:extLst>
            </p:cNvPr>
            <p:cNvSpPr/>
            <p:nvPr/>
          </p:nvSpPr>
          <p:spPr>
            <a:xfrm>
              <a:off x="686400" y="2455979"/>
              <a:ext cx="3264310" cy="86523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D4EA3EC-A48C-7DF2-2AAC-DCAAEE0AAC9B}"/>
                </a:ext>
              </a:extLst>
            </p:cNvPr>
            <p:cNvSpPr txBox="1"/>
            <p:nvPr/>
          </p:nvSpPr>
          <p:spPr>
            <a:xfrm>
              <a:off x="879028" y="2496417"/>
              <a:ext cx="2879053" cy="784364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>
              <a:spAutoFit/>
            </a:bodyPr>
            <a:lstStyle/>
            <a:p>
              <a:r>
                <a:rPr lang="en-US" sz="2600" b="1" dirty="0">
                  <a:solidFill>
                    <a:schemeClr val="accent3">
                      <a:lumMod val="75000"/>
                    </a:schemeClr>
                  </a:solidFill>
                </a:rPr>
                <a:t>Insights</a:t>
              </a:r>
            </a:p>
            <a:p>
              <a:endParaRPr lang="en-US" sz="26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03544F9-004B-A283-FAF2-A03CD9A80EE6}"/>
              </a:ext>
            </a:extLst>
          </p:cNvPr>
          <p:cNvSpPr/>
          <p:nvPr/>
        </p:nvSpPr>
        <p:spPr>
          <a:xfrm>
            <a:off x="589935" y="1061885"/>
            <a:ext cx="8150942" cy="4444180"/>
          </a:xfrm>
          <a:prstGeom prst="roundRect">
            <a:avLst/>
          </a:prstGeom>
          <a:effectLst>
            <a:outerShdw blurRad="76200" dist="12700" dir="8100000" sy="-23000" kx="800400" algn="br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2052" y="1430593"/>
            <a:ext cx="7034981" cy="390606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Focusing on </a:t>
            </a:r>
            <a:r>
              <a:rPr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Top-profit products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Need to prepare </a:t>
            </a:r>
            <a:r>
              <a:rPr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Loyalty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/retention</a:t>
            </a:r>
            <a:r>
              <a:rPr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programs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(training Quality control &amp; customer service teams)</a:t>
            </a:r>
            <a:endParaRPr sz="1400" dirty="0">
              <a:solidFill>
                <a:schemeClr val="accent3">
                  <a:lumMod val="5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Increasing no. of retail stores</a:t>
            </a:r>
            <a:endParaRPr sz="1400" dirty="0">
              <a:solidFill>
                <a:schemeClr val="accent3">
                  <a:lumMod val="5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Increasing online sales by (increasing advertising - customer retention to gain high ratings – making more </a:t>
            </a:r>
            <a:r>
              <a:rPr lang="da-DK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Bundles (“Buy 2 Save 15%”)</a:t>
            </a:r>
            <a:endParaRPr sz="1400" dirty="0">
              <a:solidFill>
                <a:schemeClr val="accent3">
                  <a:lumMod val="50000"/>
                </a:schemeClr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Making more offers &amp; new products in Peak Sales Months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sz="1400" dirty="0">
                <a:solidFill>
                  <a:schemeClr val="accent3">
                    <a:lumMod val="50000"/>
                  </a:schemeClr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Control costs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EB6EBDC-761F-F049-6810-E291EFEF440F}"/>
              </a:ext>
            </a:extLst>
          </p:cNvPr>
          <p:cNvSpPr/>
          <p:nvPr/>
        </p:nvSpPr>
        <p:spPr>
          <a:xfrm>
            <a:off x="275304" y="98324"/>
            <a:ext cx="5525729" cy="747251"/>
          </a:xfrm>
          <a:prstGeom prst="homePlat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unched Tape 3">
            <a:extLst>
              <a:ext uri="{FF2B5EF4-FFF2-40B4-BE49-F238E27FC236}">
                <a16:creationId xmlns:a16="http://schemas.microsoft.com/office/drawing/2014/main" id="{77FC0179-4B24-82D6-F6DA-97A71E9F1D2D}"/>
              </a:ext>
            </a:extLst>
          </p:cNvPr>
          <p:cNvSpPr/>
          <p:nvPr/>
        </p:nvSpPr>
        <p:spPr>
          <a:xfrm>
            <a:off x="668594" y="268482"/>
            <a:ext cx="4011561" cy="2526891"/>
          </a:xfrm>
          <a:prstGeom prst="flowChartPunchedTape">
            <a:avLst/>
          </a:prstGeom>
          <a:ln>
            <a:solidFill>
              <a:schemeClr val="accent2">
                <a:lumMod val="75000"/>
              </a:schemeClr>
            </a:solidFill>
          </a:ln>
          <a:effectLst>
            <a:outerShdw blurRad="76200" dir="18900000" sy="23000" kx="-1200000" algn="b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latin typeface="Bradley Hand ITC" panose="03070402050302030203" pitchFamily="66" charset="0"/>
              </a:rPr>
              <a:t>Thank You</a:t>
            </a:r>
          </a:p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15D149-69E8-B8DE-D62F-3F1260E07DF8}"/>
              </a:ext>
            </a:extLst>
          </p:cNvPr>
          <p:cNvSpPr txBox="1"/>
          <p:nvPr/>
        </p:nvSpPr>
        <p:spPr>
          <a:xfrm>
            <a:off x="668594" y="3059668"/>
            <a:ext cx="2979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600</TotalTime>
  <Words>371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ADLaM Display</vt:lpstr>
      <vt:lpstr>Agency FB</vt:lpstr>
      <vt:lpstr>Arial</vt:lpstr>
      <vt:lpstr>Bradley Hand ITC</vt:lpstr>
      <vt:lpstr>Calibri</vt:lpstr>
      <vt:lpstr>Calibri Light</vt:lpstr>
      <vt:lpstr>Cascadia Code SemiBold</vt:lpstr>
      <vt:lpstr>Wingdings</vt:lpstr>
      <vt:lpstr>Retrospect</vt:lpstr>
      <vt:lpstr>Project name: CHOCOLATE Store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Nehal Momtaz</dc:creator>
  <cp:lastModifiedBy>Nehal Momtaz</cp:lastModifiedBy>
  <cp:revision>10</cp:revision>
  <dcterms:created xsi:type="dcterms:W3CDTF">2026-04-23T19:39:20Z</dcterms:created>
  <dcterms:modified xsi:type="dcterms:W3CDTF">2026-04-24T09:53:54Z</dcterms:modified>
</cp:coreProperties>
</file>